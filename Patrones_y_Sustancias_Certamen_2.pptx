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portada"/>
          <p:cNvSpPr/>
          <p:nvPr/>
        </p:nvSpPr>
        <p:spPr>
          <a:xfrm flipH="false" flipV="false" rot="0">
            <a:off x="952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0" y="2449624"/>
            <a:ext cx="7429500" cy="4089026"/>
          </a:xfrm>
          <a:custGeom>
            <a:avLst/>
            <a:gdLst/>
            <a:ahLst/>
            <a:cxnLst/>
            <a:rect r="r" b="b" t="t" l="l"/>
            <a:pathLst>
              <a:path h="4089026" w="7429500">
                <a:moveTo>
                  <a:pt x="0" y="0"/>
                </a:moveTo>
                <a:lnTo>
                  <a:pt x="7429500" y="0"/>
                </a:lnTo>
                <a:lnTo>
                  <a:pt x="7429500" y="4089025"/>
                </a:lnTo>
                <a:lnTo>
                  <a:pt x="0" y="4089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1" t="0" r="-168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8750" y="2000250"/>
            <a:ext cx="857250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9600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PATRONES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750" y="3086100"/>
            <a:ext cx="8572500" cy="118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8400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Y SUSTANCIAS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8750" y="4695825"/>
            <a:ext cx="85725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Del notebook a un dashboard web en Django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750" y="5324475"/>
            <a:ext cx="819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Taller de Visualización de Datos · Certamen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6943725"/>
            <a:ext cx="81915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2A65A"/>
                </a:solidFill>
                <a:latin typeface="Arimo Bold"/>
                <a:ea typeface="Arimo Bold"/>
                <a:cs typeface="Arimo Bold"/>
                <a:sym typeface="Arimo Bold"/>
              </a:rPr>
              <a:t>INTEGRANTES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7277100"/>
            <a:ext cx="81915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Ignacio Cruz · Antonia Espinoza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Andrés Pérez · Juan Diego Smith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8324850"/>
            <a:ext cx="81915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2A65A"/>
                </a:solidFill>
                <a:latin typeface="Arimo Bold"/>
                <a:ea typeface="Arimo Bold"/>
                <a:cs typeface="Arimo Bold"/>
                <a:sym typeface="Arimo Bold"/>
              </a:rPr>
              <a:t>PROFESOR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8658225"/>
            <a:ext cx="819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Cristian García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0" y="6848475"/>
            <a:ext cx="74295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</a:t>
            </a:r>
            <a:r>
              <a:rPr lang="en-US" sz="157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 · vista de inicio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CONTEXTO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1790700"/>
            <a:ext cx="146685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0F2D52"/>
                </a:solidFill>
                <a:latin typeface="Arimo"/>
                <a:ea typeface="Arimo"/>
                <a:cs typeface="Arimo"/>
                <a:sym typeface="Arimo"/>
              </a:rPr>
              <a:t>¿A qué grupo dirigiríamos una campaña de prevención si tuviéramos que decidir solo con datos?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90750" y="3829050"/>
            <a:ext cx="4000500" cy="90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3"/>
              </a:lnSpc>
            </a:pPr>
            <a:r>
              <a:rPr lang="en-US" sz="6375" b="true">
                <a:solidFill>
                  <a:srgbClr val="406AB4"/>
                </a:solidFill>
                <a:latin typeface="Arimo Bold"/>
                <a:ea typeface="Arimo Bold"/>
                <a:cs typeface="Arimo Bold"/>
                <a:sym typeface="Arimo Bold"/>
              </a:rPr>
              <a:t>18.668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0750" y="4886325"/>
            <a:ext cx="4000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PERSONAS ENCUESTADAS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0750" y="5324475"/>
            <a:ext cx="39052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ENPG 2024 · SENDA. Encuesta probabilística que representa a 11,4 millones de chilenos de 12 a 65 años.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91375" y="3829050"/>
            <a:ext cx="4000500" cy="90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3"/>
              </a:lnSpc>
            </a:pPr>
            <a:r>
              <a:rPr lang="en-US" sz="6375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1.885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91375" y="4886325"/>
            <a:ext cx="4000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PARTICIPANTES UCI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91375" y="5324475"/>
            <a:ext cx="39052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Drug Consumption (UCI). Agrega lo que Chile no mide: 7 rasgos de personalidad e impulsividad.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2000" y="3829050"/>
            <a:ext cx="4000500" cy="90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3"/>
              </a:lnSpc>
            </a:pPr>
            <a:r>
              <a:rPr lang="en-US" sz="6375" b="true">
                <a:solidFill>
                  <a:srgbClr val="F2A65A"/>
                </a:solidFill>
                <a:latin typeface="Arimo Bold"/>
                <a:ea typeface="Arimo Bold"/>
                <a:cs typeface="Arimo Bold"/>
                <a:sym typeface="Arimo Bold"/>
              </a:rPr>
              <a:t>31,2 %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2000" y="4886325"/>
            <a:ext cx="4000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DE LOS ADULTOS EN CHILE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0" y="5324475"/>
            <a:ext cx="390525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consumió alcohol en los últimos 30 días. Marihuana: 4,7 %. El consumo no es homogéneo.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9750" y="7896225"/>
            <a:ext cx="146685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Problema: en el Certamen 1 los hallazgos quedaron dentro de un notebook — útiles para analistas, pero difíciles de consultar para quien diseña prevención. Faltaba una herramienta navegable que muestre los datos a cualquier usuario.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SOLUCIÓN: DASHBOARD EN DJANGO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1790700"/>
            <a:ext cx="146685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Llevamos la misma limpieza y análisis del notebook a una aplicación web con Django 5.1, sin recalcular a mano ni copiar gráficos.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95500" y="3562350"/>
            <a:ext cx="6667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5500" y="4362450"/>
            <a:ext cx="27622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5500" y="4829175"/>
            <a:ext cx="276225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drug_consumption.data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enpg_2024_reducida.csv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05500" y="3562350"/>
            <a:ext cx="6667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05500" y="4362450"/>
            <a:ext cx="27622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ANÁLISIS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05500" y="4829175"/>
            <a:ext cx="27622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analisis.py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limpieza · recencia · policonsumo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5500" y="3562350"/>
            <a:ext cx="6667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5500" y="4362450"/>
            <a:ext cx="27622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VISTAS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5500" y="4829175"/>
            <a:ext cx="27622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views.py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tablas + gráficos Matplotlib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25500" y="3562350"/>
            <a:ext cx="6667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25500" y="4362450"/>
            <a:ext cx="27622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PLANTILLAS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25500" y="4829175"/>
            <a:ext cx="276225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HTML + Bootstrap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menú y navegación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95500" y="6648450"/>
            <a:ext cx="428625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REPRODUCIBLE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95500" y="7086600"/>
            <a:ext cx="42862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Mismos datos y reglas que el notebook: los números coinciden.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96125" y="6648450"/>
            <a:ext cx="428625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NAVEGABLE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96125" y="7086600"/>
            <a:ext cx="42862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2 menús desplegables: 3 listados y 6 gráficos con explicación.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96750" y="6648450"/>
            <a:ext cx="428625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ESCALABLE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96750" y="7086600"/>
            <a:ext cx="42862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Cada gráfico es una función; agregar uno es una ruta y una vista.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4 con captura del menú del dashboar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MENÚ PRINCIPAL Y NAVEGACIÓN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59000" y="63817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Criterios 1 y 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54000" y="1885950"/>
            <a:ext cx="4476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DOS DESPLEGABLES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0" y="2371725"/>
            <a:ext cx="40957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Listados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5000" y="2771775"/>
            <a:ext cx="40957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3 tablas: recencia, edad-sexo y perfil psicológico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5000" y="4181475"/>
            <a:ext cx="40957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Gráficos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0" y="4581525"/>
            <a:ext cx="40957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barras, líneas y dispersión + 3 análisis complementarios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0" y="5991225"/>
            <a:ext cx="40957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Navegación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5000" y="6391275"/>
            <a:ext cx="40957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cada opción usa {% url %} y lleva a su propia ruta y vista; "Volver al inicio" en todas las páginas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809750" y="1997896"/>
            <a:ext cx="10485488" cy="5795909"/>
          </a:xfrm>
          <a:custGeom>
            <a:avLst/>
            <a:gdLst/>
            <a:ahLst/>
            <a:cxnLst/>
            <a:rect r="r" b="b" t="t" l="l"/>
            <a:pathLst>
              <a:path h="5795909" w="10485488">
                <a:moveTo>
                  <a:pt x="0" y="0"/>
                </a:moveTo>
                <a:lnTo>
                  <a:pt x="10485488" y="0"/>
                </a:lnTo>
                <a:lnTo>
                  <a:pt x="10485488" y="5795908"/>
                </a:lnTo>
                <a:lnTo>
                  <a:pt x="0" y="579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3" t="0" r="-2126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5 con captura del listado 1"/>
          <p:cNvSpPr/>
          <p:nvPr/>
        </p:nvSpPr>
        <p:spPr>
          <a:xfrm flipH="false" flipV="false" rot="0">
            <a:off x="952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LISTADO 1 · RECENCIA POR SUSTANCIA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59000" y="63817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Criterio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0" y="1885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¿QUÉ MUESTRA?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0" y="2276475"/>
            <a:ext cx="409575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% de adultos que consumió cada sustancia en 30 días, último año o alguna vez, separado por fuente.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20750" y="4495800"/>
            <a:ext cx="3524250" cy="8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6"/>
              </a:lnSpc>
            </a:pPr>
            <a:r>
              <a:rPr lang="en-US" sz="5625" b="true">
                <a:solidFill>
                  <a:srgbClr val="F2A65A"/>
                </a:solidFill>
                <a:latin typeface="Arimo Bold"/>
                <a:ea typeface="Arimo Bold"/>
                <a:cs typeface="Arimo Bold"/>
                <a:sym typeface="Arimo Bold"/>
              </a:rPr>
              <a:t>4 de 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20750" y="5362575"/>
            <a:ext cx="35242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sustancias siguen el mismo orden en Chile y UCI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0" y="6838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LECTURA CLAVE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0" y="7229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Alcohol &gt; tabaco &gt; marihuana &gt; cocaína en ambas fuentes. Comparamos el orden, no los niveles: UCI no es representativa.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6 con captura del listado 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LISTADO 2 · CONSUMO POR EDAD Y SEXO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59000" y="63817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Criterio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0" y="1885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¿QUÉ MUESTRA?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0" y="2276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12 grupos de edad × sexo (ENPG 2024): % de consumo en 30 días por sustancia y % de policonsumo.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20750" y="4495800"/>
            <a:ext cx="3524250" cy="8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6"/>
              </a:lnSpc>
            </a:pPr>
            <a:r>
              <a:rPr lang="en-US" sz="5625" b="true">
                <a:solidFill>
                  <a:srgbClr val="F2A65A"/>
                </a:solidFill>
                <a:latin typeface="Arimo Bold"/>
                <a:ea typeface="Arimo Bold"/>
                <a:cs typeface="Arimo Bold"/>
                <a:sym typeface="Arimo Bold"/>
              </a:rPr>
              <a:t>26,7 %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20750" y="5362575"/>
            <a:ext cx="352425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 los hombres de 25-34 años consumió 2+ sustancias en el último mes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0" y="6838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LECTURA CLAVE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0" y="7229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Los hombres superan a las mujeres en todos los tramos; marihuana y policonsumo se concentran entre 18 y 34 años.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7 con captura del listado 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LISTADO 3 · PERFIL PSICOLÓGICO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59000" y="63817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Criterio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0" y="1885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¿QUÉ MUESTRA?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0" y="2276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Percentil promedio de 7 rasgos según cuántas sustancias consumió cada participante UCI en 30 días.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20750" y="4495800"/>
            <a:ext cx="3524250" cy="8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6"/>
              </a:lnSpc>
            </a:pPr>
            <a:r>
              <a:rPr lang="en-US" sz="5625" b="true">
                <a:solidFill>
                  <a:srgbClr val="F2A65A"/>
                </a:solidFill>
                <a:latin typeface="Arimo Bold"/>
                <a:ea typeface="Arimo Bold"/>
                <a:cs typeface="Arimo Bold"/>
                <a:sym typeface="Arimo Bold"/>
              </a:rPr>
              <a:t>67,7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20750" y="5362575"/>
            <a:ext cx="352425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percentil de búsqueda de sensaciones en el grupo de 3-4 sustancias (vs 35,6 sin consumo)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0" y="6838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LECTURA CLAVE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0" y="7229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A más policonsumo, más apertura, impulsividad y búsqueda de sensaciones; menos responsabilidad.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8 con captura del gráfico de barras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GRÁFICO DE BARRAS · RECENCIA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59000" y="63817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Criterio 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0" y="1885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¿QUÉ MUESTRA?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0" y="2276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Barras horizontales por sustancia en 3 ventanas de tiempo. Azul = Chile, Rojo = muestra internacional.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20750" y="4495800"/>
            <a:ext cx="3524250" cy="8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6"/>
              </a:lnSpc>
            </a:pPr>
            <a:r>
              <a:rPr lang="en-US" sz="5625" b="true">
                <a:solidFill>
                  <a:srgbClr val="F2A65A"/>
                </a:solidFill>
                <a:latin typeface="Arimo Bold"/>
                <a:ea typeface="Arimo Bold"/>
                <a:cs typeface="Arimo Bold"/>
                <a:sym typeface="Arimo Bold"/>
              </a:rPr>
              <a:t>82,3 %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20750" y="5362575"/>
            <a:ext cx="35242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alcohol 30 días en UCI vs 31,2 % en Chile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0" y="6838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LECTURA CLAVE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0" y="7229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El orden es idéntico en ambas fuentes. La brecha de nivel refleja la metodología de cada muestra, no "más consumo".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9 con captura del gráfico de líneas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GRÁFICO DE LÍNEAS · EDAD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59000" y="63817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Criterio 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0" y="1885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¿QUÉ MUESTRA?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0" y="2276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Una línea por sustancia: % de consumo en 30 días en cada grupo de edad. La pendiente muestra la tendencia.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20750" y="4495800"/>
            <a:ext cx="3524250" cy="8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6"/>
              </a:lnSpc>
            </a:pPr>
            <a:r>
              <a:rPr lang="en-US" sz="5625" b="true">
                <a:solidFill>
                  <a:srgbClr val="F2A65A"/>
                </a:solidFill>
                <a:latin typeface="Arimo Bold"/>
                <a:ea typeface="Arimo Bold"/>
                <a:cs typeface="Arimo Bold"/>
                <a:sym typeface="Arimo Bold"/>
              </a:rPr>
              <a:t>10,1 %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20750" y="5362575"/>
            <a:ext cx="35242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marihuana en Chile a los 25-34 años; cae casi a cero sobre los 65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0" y="6838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LECTURA CLAVE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0" y="7229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La edad es la variable que más ordena el consumo: marihuana y cocaína bajan con fuerza; alcohol es más estable.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10 con captura del gráfico de dispersión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GRÁFICO DE DISPERSIÓN · IMPULSIVIDAD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59000" y="63817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Criterio 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0" y="1885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¿QUÉ MUESTRA?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0" y="2276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Cada punto es un participante UCI: impulsividad (X) vs búsqueda de sensaciones (Y); color = último consumo de marihuana.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20750" y="4495800"/>
            <a:ext cx="3524250" cy="81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6"/>
              </a:lnSpc>
            </a:pPr>
            <a:r>
              <a:rPr lang="en-US" sz="5625" b="true">
                <a:solidFill>
                  <a:srgbClr val="F2A65A"/>
                </a:solidFill>
                <a:latin typeface="Arimo Bold"/>
                <a:ea typeface="Arimo Bold"/>
                <a:cs typeface="Arimo Bold"/>
                <a:sym typeface="Arimo Bold"/>
              </a:rPr>
              <a:t>r ≈ 0,62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20750" y="5362575"/>
            <a:ext cx="35242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correlación entre impulsividad y búsqueda de sensaciones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0" y="68389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LECTURA CLAVE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0" y="7229475"/>
            <a:ext cx="4095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El consumo reciente (coral) se concentra arriba a la derecha. Es asociación, no causa: hay mucho solapamiento.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11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DE LA VISTA A LA PLANTILLA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59000" y="63817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Criterio 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0" y="1752600"/>
            <a:ext cx="152400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Los datos nunca se escriben en el HTML: la vista los calcula y los envía como contexto con render().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9750" y="2600325"/>
            <a:ext cx="7239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406AB4"/>
                </a:solidFill>
                <a:latin typeface="Arimo Bold"/>
                <a:ea typeface="Arimo Bold"/>
                <a:cs typeface="Arimo Bold"/>
                <a:sym typeface="Arimo Bold"/>
              </a:rPr>
              <a:t>VISTA (Python)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0750" y="3333750"/>
            <a:ext cx="6667500" cy="276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# dashboard/views.py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def _mostrar_listado(request, nombre_ruta):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  info = LISTADOS[nombre_ruta]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  columnas, filas = info["funcion"]()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  contexto = {"info": info,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              "columnas": columnas,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              "filas": filas}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  return render(request,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      "dashboard/listado.html", contexto)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1250" y="2600325"/>
            <a:ext cx="7239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PLANTILLA (HTML)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82250" y="3333750"/>
            <a:ext cx="6667500" cy="276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&lt;!-- templates/dashboard/listado.html --&gt;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{% for columna in columnas %}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&lt;th&gt;{{ columna }}&lt;/th&gt;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{% endfor %}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{% for fila in filas %}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&lt;tr&gt;{% for valor in fila %}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  &lt;td&gt;{{ valor }}&lt;/td&gt;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  {% endfor %}&lt;/tr&gt;</a:t>
            </a:r>
          </a:p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{% endfor %}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9750" y="7886700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Lo mismo en los gráficos: graficos.py dibuja con Matplotlib, figura_a_base64() convierte el PNG a texto y la vista lo envía como {{ grafico }} para que la plantilla lo muestre en un &lt;img&gt;.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1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CONCLUSIÓN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9750" y="1743075"/>
            <a:ext cx="152400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F2D52"/>
                </a:solidFill>
                <a:latin typeface="Arimo"/>
                <a:ea typeface="Arimo"/>
                <a:cs typeface="Arimo"/>
                <a:sym typeface="Arimo"/>
              </a:rPr>
              <a:t>Segmentar importa: edad, sexo, sustancia y personalidad muestran patrones que un promedio general esconde.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43125" y="3409950"/>
            <a:ext cx="4000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406AB4"/>
                </a:solidFill>
                <a:latin typeface="Arimo Bold"/>
                <a:ea typeface="Arimo Bold"/>
                <a:cs typeface="Arimo Bold"/>
                <a:sym typeface="Arimo Bold"/>
              </a:rPr>
              <a:t>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43125" y="3933825"/>
            <a:ext cx="40005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Identificar patrones de consumo y las características asociadas a mayor recencia.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91375" y="3409950"/>
            <a:ext cx="4000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RESULTADO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91375" y="3933825"/>
            <a:ext cx="4000500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Alcohol lidera en ambas fuentes · la edad ordena el consumo · el policonsumo se concentra en hombres de 18-34 · impulsividad y búsqueda de sensaciones se asocian a consumo reciente.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39625" y="3409950"/>
            <a:ext cx="4000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F2A65A"/>
                </a:solidFill>
                <a:latin typeface="Arimo Bold"/>
                <a:ea typeface="Arimo Bold"/>
                <a:cs typeface="Arimo Bold"/>
                <a:sym typeface="Arimo Bold"/>
              </a:rPr>
              <a:t>APORTE DE LA SOLUCIÓN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39625" y="3933825"/>
            <a:ext cx="400050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Un dashboard navegable que deja estos hallazgos a un clic: 3 listados, 6 gráficos y su explicación, con los mismos datos del notebook.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90750" y="7943850"/>
            <a:ext cx="140970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Recomendación: pasar de campañas generales a prevención segmentada, priorizando a hombres de 18 a 34 años y diferenciando el mensaje para alcohol y marihuana. Límite: UCI no representa a Chile; la personalidad es una línea para futuros estudios nacionales, no una política.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1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50" y="295275"/>
            <a:ext cx="95250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0" y="552450"/>
            <a:ext cx="12858750" cy="5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BIBLIOGRAFÍA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9750" y="9791700"/>
            <a:ext cx="1143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Patrones y Sustancias · Taller de Visualización de Datos · Certamen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59000" y="65722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Norma APA 7.ª 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0" y="1828800"/>
            <a:ext cx="15240000" cy="52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Django Software Foundation. (2024). Django (Versión 5.1) [Software]. https://www.djangoproject.com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Fehrman, E., Egan, V., &amp; Mirkes, E. (2016). Drug consumption (quantified) [Conjunto de datos]. UCI Machine Learning Repository. https://doi.org/10.24432/C5TC7S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Fehrman, E., Muhammad, A. K., Mirkes, E. M., Egan, V., &amp; Gorban, A. N. (2017). The five factor model of personality and evaluation of drug consumption risk. En F. Palumbo et al. (Eds.), Data science (pp. 231–242). Springer. https://arxiv.org/abs/1506.06297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Harris, C. R., Millman, K. J., van der Walt, S. J., et al. (2020). Array programming with NumPy. Nature, 585(7825), 357–362. https://doi.org/10.1038/s41586-020-2649-2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Hunter, J. D. (2007). Matplotlib: A 2D graphics environment. Computing in Science &amp; Engineering, 9(3), 90–95. https://doi.org/10.1109/MCSE.2007.55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McKinney, W. (2010). Data structures for statistical computing in Python. En Proceedings of the 9th Python in Science Conference (pp. 56–61). https://doi.org/10.25080/Majora-92bf1922-00a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Otto, M., Thornton, J., &amp; Bootstrap contributors. (2025). Bootstrap (Versión 5.3) [Software]. https://getbootstrap.com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F2A37"/>
                </a:solidFill>
                <a:latin typeface="Arimo"/>
                <a:ea typeface="Arimo"/>
                <a:cs typeface="Arimo"/>
                <a:sym typeface="Arimo"/>
              </a:rPr>
              <a:t>Servicio Nacional para la Prevención y Rehabilitación del Consumo de Drogas y Alcohol [SENDA]. (2025). Décimo Sexto Estudio Nacional de Drogas en Población General de Chile 2024. Ministerio del Interior. https://www.senda.gob.cl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Fondo lámina de cierre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2990850"/>
            <a:ext cx="12382500" cy="183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23"/>
              </a:lnSpc>
            </a:pPr>
            <a:r>
              <a:rPr lang="en-US" sz="12975" b="true">
                <a:solidFill>
                  <a:srgbClr val="0F2D52"/>
                </a:solidFill>
                <a:latin typeface="Arimo Bold"/>
                <a:ea typeface="Arimo Bold"/>
                <a:cs typeface="Arimo Bold"/>
                <a:sym typeface="Arimo Bold"/>
              </a:rPr>
              <a:t>¡GRACIAS!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5400675"/>
            <a:ext cx="123825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0"/>
              </a:lnSpc>
            </a:pPr>
            <a:r>
              <a:rPr lang="en-US" sz="3975" b="true">
                <a:solidFill>
                  <a:srgbClr val="E25E6B"/>
                </a:solidFill>
                <a:latin typeface="Arimo Bold"/>
                <a:ea typeface="Arimo Bold"/>
                <a:cs typeface="Arimo Bold"/>
                <a:sym typeface="Arimo Bold"/>
              </a:rPr>
              <a:t>¿Preguntas sobre el código o los datos?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750" y="6276975"/>
            <a:ext cx="12382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573"/>
                </a:solidFill>
                <a:latin typeface="Arimo"/>
                <a:ea typeface="Arimo"/>
                <a:cs typeface="Arimo"/>
                <a:sym typeface="Arimo"/>
              </a:rPr>
              <a:t>Repositorio del proyecto en GitHub · Django 5.1 · pandas · Matplotlib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DAHZC75S-XU</dc:identifier>
  <dcterms:modified xsi:type="dcterms:W3CDTF">2011-08-01T06:04:30Z</dcterms:modified>
  <cp:revision>1</cp:revision>
  <dc:title>Patrones y Sustancias · Certamen 2</dc:title>
</cp:coreProperties>
</file>